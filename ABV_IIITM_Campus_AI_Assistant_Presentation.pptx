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3800" b="1">
                <a:solidFill>
                  <a:srgbClr val="FFFFFF"/>
                </a:solidFill>
              </a:defRPr>
            </a:pPr>
            <a:r>
              <a:t>ABV-IIITM Campus AI Assistant</a:t>
            </a:r>
          </a:p>
          <a:p>
            <a:pPr>
              <a:spcAft>
                <a:spcPts val="2400"/>
              </a:spcAft>
              <a:defRPr sz="1700">
                <a:solidFill>
                  <a:srgbClr val="BFDBFE"/>
                </a:solidFill>
              </a:defRPr>
            </a:pPr>
            <a:r>
              <a:t>Zero-Hallucination Retrieval-Augmented Generation (RAG) System for Institute Inquiries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Presented By: Student Technical Lead | Academic &amp; Administrative Review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563EB"/>
                </a:solidFill>
              </a:defRPr>
            </a:pPr>
            <a:r>
              <a:t>ABV-IIITM GWALIOR | TECHNICAL PROJECT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4085"/>
                </a:solidFill>
              </a:defRPr>
            </a:pPr>
            <a:r>
              <a:t>Institutional Challenges &amp; Motivation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004085"/>
                </a:solidFill>
              </a:defRPr>
            </a:pPr>
            <a:r>
              <a:t>Administrative Overhead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High volume of repetitive queries during admission cycles.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Academic staff spends hours clarifying identical fee &amp; grading rules.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Staff diverted from high-priority research and institutional operations.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2880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004085"/>
                </a:solidFill>
              </a:defRPr>
            </a:pPr>
            <a:r>
              <a:t>Fragmented Information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Critical rules dispersed across 680+ pages of disjointed PDFs.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Students miss essential clauses for attendance &amp; branch change.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Search engines fail to pinpoint specific regulatory sub-clauses.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82880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004085"/>
                </a:solidFill>
              </a:defRPr>
            </a:pPr>
            <a:r>
              <a:t>Stakeholder Experience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Prospective parents struggle to find exact 2026 fee breakdowns.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Lack of 24/7 self-service guidance for international/DASA applicants.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Need for an instant, verifiable digital helpdesk on the portal.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563EB"/>
                </a:solidFill>
              </a:defRPr>
            </a:pPr>
            <a:r>
              <a:t>ABV-IIITM GWALIOR | TECHNICAL PROJECT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4085"/>
                </a:solidFill>
              </a:defRPr>
            </a:pPr>
            <a:r>
              <a:t>System Architecture: RAG Knowledge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004085"/>
                </a:solidFill>
              </a:defRPr>
            </a:pPr>
            <a:r>
              <a:t>Local Knowledge Ingestion Pipeline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687 official institute PDF pages ingested and parsed.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Recursive character chunking (600 tokens with 100 overlap).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2,822 semantic vectors generated via sentence-transformers.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Persistent local vector storage using ChromaDB.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Zero institutional documents sent to external third-party databases.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004085"/>
                </a:solidFill>
              </a:defRPr>
            </a:pPr>
            <a:r>
              <a:t>Retrieval &amp; Response Pipeline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User submits query via responsive web widget.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Vector similarity search extracts top 5 verified context chunks.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High-speed LLM synthesizes response strictly from retrieved data.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Zero-hallucination guardrail: politely routes unindexed queries to official emails.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Sub-second response delivery via asynchronous FastAPI backend.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563EB"/>
                </a:solidFill>
              </a:defRPr>
            </a:pPr>
            <a:r>
              <a:t>ABV-IIITM GWALIOR | TECHNICAL PROJECT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4085"/>
                </a:solidFill>
              </a:defRPr>
            </a:pPr>
            <a:r>
              <a:t>Institutional Knowledge Domains Indexed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834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004085"/>
                </a:solidFill>
              </a:defRPr>
            </a:pPr>
            <a:r>
              <a:t>Admissions &amp; Intake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Annual intake across B.Tech, M.Tech, MBA, PhD.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Non-GATE M.Tech exam schedules &amp; syllabi.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MBA eligibility (CAT, MAT, CMAT, CUET).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28800"/>
            <a:ext cx="2834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004085"/>
                </a:solidFill>
              </a:defRPr>
            </a:pPr>
            <a:r>
              <a:t>Academic Ordinances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Mandatory 75% minimum attendance rule.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10-point letter grading &amp; SGPA/CGPA math.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UG branch change criteria (CGPA &gt;= 8.00).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828800"/>
            <a:ext cx="2834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004085"/>
                </a:solidFill>
              </a:defRPr>
            </a:pPr>
            <a:r>
              <a:t>Fee Schedules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2022 to 2026 batch tuition &amp; hostel tables.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Itemized breakdown (Rs. 1,68,750 for 2026 B.Tech).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SC/ST, PwD, and DASA category fee waivers.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32918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297680"/>
            <a:ext cx="2834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004085"/>
                </a:solidFill>
              </a:defRPr>
            </a:pPr>
            <a:r>
              <a:t>NEP 2020 Multi-Exits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Certificate in Engg. Sciences (Year 1).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Diploma in CSE / IT / EEE (Year 2).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B.Sc. Degree (Year 3) &amp; B.Tech / PG.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4114800"/>
            <a:ext cx="32918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4297680"/>
            <a:ext cx="2834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004085"/>
                </a:solidFill>
              </a:defRPr>
            </a:pPr>
            <a:r>
              <a:t>Hostel &amp; Student Life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10:00 PM compulsory night attendance.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200W electrical appliance power cap.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Sports complex, library, and health center.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4114800"/>
            <a:ext cx="32918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4297680"/>
            <a:ext cx="2834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004085"/>
                </a:solidFill>
              </a:defRPr>
            </a:pPr>
            <a:r>
              <a:t>Placements &amp; Research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67.5 LPA highest CTC &amp; average packages.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80+ visiting recruiters (Google, D.E. Shaw).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Final-year 90-day internship regulations.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563EB"/>
                </a:solidFill>
              </a:defRPr>
            </a:pPr>
            <a:r>
              <a:t>ABV-IIITM GWALIOR | TECHNICAL PROJECT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4085"/>
                </a:solidFill>
              </a:defRPr>
            </a:pPr>
            <a:r>
              <a:t>Accuracy &amp; Ground Truth Validation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004085"/>
                </a:solidFill>
              </a:defRPr>
            </a:pPr>
            <a:r>
              <a:t>Test 1: 2026 B.Tech Fee Inquiry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Query: 'What is the total fee payable for B.Tech in 2026?'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Extracted Answer: Rs. 1,68,750 total admission payment.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Breakdown: Rs. 1,05,000 Institute fee + Rs. 35,000 Hostel fee + Rs. 23,750 One-time fee + Rs. 5,000 Mess deposit.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Validation: 100% verified against official Annexure-A fee circular.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004085"/>
                </a:solidFill>
              </a:defRPr>
            </a:pPr>
            <a:r>
              <a:t>Test 2: Non-GATE M.Tech Admissions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Query: 'Where is the Non-GATE written test conducted?'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Extracted Answer: Room 106, Lecture Theatre I (LT-I) at 10:00 AM on August 8, 2026.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Validation: 100% verified against Advertisement No. 623.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Test 3: Attendance Rule -&gt; Accurately extracted 75% cutoff.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563EB"/>
                </a:solidFill>
              </a:defRPr>
            </a:pPr>
            <a:r>
              <a:t>ABV-IIITM GWALIOR | TECHNICAL PROJECT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4085"/>
                </a:solidFill>
              </a:defRPr>
            </a:pPr>
            <a:r>
              <a:t>Implementation Plan &amp; Institutional Value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004085"/>
                </a:solidFill>
              </a:defRPr>
            </a:pPr>
            <a:r>
              <a:t>Deployment &amp; Infrastructure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Embeds in 1 minute using a single &lt;script&gt; tag on iiitm.ac.in.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Runs on existing campus Linux hardware / VM (Rs. 0/month cost).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Automated weekly script re-indexes new circulars &amp; notifications.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Zero modifications required to existing CMS backend.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004085"/>
                </a:solidFill>
              </a:defRPr>
            </a:pPr>
            <a:r>
              <a:t>Institutional Value &amp; Next Steps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Reduces routine administrative inquiry tickets by up to 70%.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Provides 24/7 instant guidance for students and parents worldwide.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Guarantees accurate, policy-grounded communication at all times.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Next Step: Approve staging deployment on assistant.iiitm.ac.in.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